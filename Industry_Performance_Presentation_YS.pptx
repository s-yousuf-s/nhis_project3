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9999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64183" autoAdjust="0"/>
  </p:normalViewPr>
  <p:slideViewPr>
    <p:cSldViewPr snapToGrid="0" snapToObjects="1">
      <p:cViewPr>
        <p:scale>
          <a:sx n="81" d="100"/>
          <a:sy n="81" d="100"/>
        </p:scale>
        <p:origin x="725" y="91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1697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this project? </a:t>
            </a:r>
          </a:p>
          <a:p>
            <a:r>
              <a:rPr lang="en-US" dirty="0"/>
              <a:t>A comprehensive EDA on 15,000 company records across 5 industries, 4 countries, 3 regions.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12 original columns:
- id: row identifier, no analytical value — first thing will be dropped in next step
- company_name: text identifier
- industry, country, region: categorical — all perfectly balanced (3,000 per industry, 3,750 per country)
- employee_count, annual_revenue_million, profit_margin_percent, customer_count, market_rating: the five base numerical metrics
- founded_year: year of establishment — will become company_age after engineering
- created_date: stored as text initially — needed date conversion
The bottom banner states the core problem: these columns measure SIZE, not EFFICIENCY. A company with 5,000 employees earning $500M and one with 500 employees earning $500M look identical. Without efficiency ratios, we cannot differentiate them. This sets up the Feature Engineering slide perfectly.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WAS DATA PREPARED?
Phases 1-4 (Auditing): </a:t>
            </a:r>
          </a:p>
          <a:p>
            <a:r>
              <a:rPr lang="en-US" dirty="0"/>
              <a:t>Dataset loaded successfully — 15,000 rows × 12 columns confirmed. </a:t>
            </a:r>
          </a:p>
          <a:p>
            <a:r>
              <a:rPr lang="en-US" dirty="0"/>
              <a:t>Zero missing values, zero duplicates; created_date converted from text to proper date format. </a:t>
            </a:r>
          </a:p>
          <a:p>
            <a:r>
              <a:rPr lang="en-US" dirty="0"/>
              <a:t>Categorical columns (industry, country, region) optimized to category dtype for efficiency.
Phases 5-8 (Discovery): </a:t>
            </a:r>
          </a:p>
          <a:p>
            <a:r>
              <a:rPr lang="en-US" dirty="0"/>
              <a:t>Phase 5 is the pivotal phase — base data was too uniform to produce insight, so 10 features were engineered. </a:t>
            </a:r>
          </a:p>
          <a:p>
            <a:r>
              <a:rPr lang="en-US" dirty="0"/>
              <a:t>Phase 6 covers three visual layers (univariate, bivariate, multivariate). </a:t>
            </a:r>
          </a:p>
          <a:p>
            <a:r>
              <a:rPr lang="en-US" dirty="0"/>
              <a:t>Phase 7 applies IQR outlier detection with a deliberate retention decision. </a:t>
            </a:r>
          </a:p>
          <a:p>
            <a:r>
              <a:rPr lang="en-US" dirty="0"/>
              <a:t>Phase 8 communicates findings through the dashboard and this presentation.
The gold Phase 08 is highlighted deliberately — it is the destination. All other phases exist to get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FEATURE ENGINEERING?
The original brief required analysis of 12 base columns. However, all base metrics showed perfect uniformity — a characteristic of synthetic data.</a:t>
            </a:r>
          </a:p>
          <a:p>
            <a:r>
              <a:rPr lang="en-US" dirty="0"/>
              <a:t>Standard EDA on this data produces nothing useful.
The 10 engineered features:
EFFICIENCY RATIOS (most important):
- rev_per_emp: Removes the size advantage — compares companies on a per-employee basis regardless of workforce size
- rev_per_customer: Measures the quality of each customer relationship
- cust_per_emp: Measures scalability — customers served per employee
TIER CLASSIFICATIONS:
- customer_tier has THREE values: Niche / Standard / Mass-Scale (as visible in the donut chart later)
- business_model combines revenue_tier × customer_tier into one strategic label (e.g. 'Large / Niche')
Column math: 12 original − 1 dropped (id) + 10 engineered = 21 final columns.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 INDIVIDUAL VARIABLES SHOW?
CHARTS SHOWN: Histogram dashboard for 5 base numerical metrics (Annual Revenue, Employee Count, Profit Margin, Customer Count, Market Rating).
CHARTS ALSO ANALYZED IN UNIVARIATE (not shown in PPT, present in notebook):
- Horizontal bar grid for 3 categorical metrics (Industry, Country, Region): all perfectly balanced — 3,000 per industry, 3,750 per country
- Statistical summary tables with mean, median, standard deviation, skewness and kurtosis for all base columns
KEY VALUES:
- Annual Revenue: Skew 0.027 | Kurt −1.187 | Mean $549.7M | Median $543.9M
- Employee Count: Skew 0.002 | Kurt −1.188
- Profit Margin: Skew 0.003 | Kurt −1.203
- Customer Count: Skew −0.005 | Kurt −1.195
- Market Rating: Skew −0.020 | Kurt −1.206
The red KDE curve sits almost flat across each histogram — no concentration anywhere. </a:t>
            </a:r>
          </a:p>
          <a:p>
            <a:r>
              <a:rPr lang="en-US" dirty="0"/>
              <a:t>This is the baseline problem that motivates everything that follows. </a:t>
            </a:r>
          </a:p>
          <a:p>
            <a:r>
              <a:rPr lang="en-US" dirty="0"/>
              <a:t>Standard EDA on this data would conclude there is nothing to find. </a:t>
            </a:r>
          </a:p>
          <a:p>
            <a:r>
              <a:rPr lang="en-US" dirty="0"/>
              <a:t>The next slide shows what feature engineering reveals.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CHANGED AFTER ENGINEERING?
CHARTS SHOWN: Histogram dashboard for 5 engineered numerical metrics (Rev/Emp, Rev/Customer, Cust/Emp, Company Age, Industry Density).
KEY SKEWNESS &amp; KURTOSIS VALUES:
- Rev/Emp: Skewness 5.582, Kurtosis 42.220
- Rev/Customer: Skewness 9.340, Kurtosis 118.904 ← most extreme in the dataset
- Cust/Emp: Skewness 5.280, Kurtosis 37.181
- Company Age: Skewness −0.021, Kurtosis −1.190 (uniform — expected)
- Industry Density: Skewness 0.000, Kurtosis −2.000 (perfectly flat — only two distinct values)
WHAT THIS MEANS: </a:t>
            </a:r>
          </a:p>
          <a:p>
            <a:r>
              <a:rPr lang="en-US" dirty="0"/>
              <a:t>The long right tails in the efficiency ratio histograms ARE the Market Leader group — companies operating at a fundamentally different efficiency level. </a:t>
            </a:r>
          </a:p>
          <a:p>
            <a:r>
              <a:rPr lang="en-US" dirty="0"/>
              <a:t>Kurtosis of 118.9 for Rev/Customer means the distribution is extremely peaked with very heavy tails. </a:t>
            </a:r>
          </a:p>
          <a:p>
            <a:r>
              <a:rPr lang="en-US" dirty="0"/>
              <a:t>The outlier phase will formally isolate this group.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TIERS BREAK DOWN?
CHARTS SHOWN: Donut chart grid for 4 engineered tier distributions (Age Tier, Rating Tier, Revenue Tier, Customer Tier).
CHARTS ALSO ANALYZED (not shown in PPT, present in notebook):
- Horizontal bar chart for business model distribution (combining revenue_tier × customer_tier)
- Statistical frequency tables for all tier columns
KEY FINDINGS:
AGE TIER: </a:t>
            </a:r>
          </a:p>
          <a:p>
            <a:r>
              <a:rPr lang="en-US" dirty="0"/>
              <a:t>87.3% Established (10+ years), 12.7% Growth, 0% Startup. </a:t>
            </a:r>
          </a:p>
          <a:p>
            <a:r>
              <a:rPr lang="en-US" dirty="0"/>
              <a:t>This confirms the dataset represents a mature market — not an early-stage ecosystem.
RATING TIER: </a:t>
            </a:r>
          </a:p>
          <a:p>
            <a:r>
              <a:rPr lang="en-US" dirty="0"/>
              <a:t>40.6% Low, 40.3% Average, 19.1% Market Leaders. </a:t>
            </a:r>
          </a:p>
          <a:p>
            <a:r>
              <a:rPr lang="en-US" dirty="0"/>
              <a:t>The 40/40/20 split is one of the most important findings — this exact ratio holds across all 5 industries, 4 countries, and 3 regions. </a:t>
            </a:r>
          </a:p>
          <a:p>
            <a:r>
              <a:rPr lang="en-US" dirty="0"/>
              <a:t>This proves that categorical variables alone cannot predict performance tier.
REVENUE TIER: </a:t>
            </a:r>
          </a:p>
          <a:p>
            <a:r>
              <a:rPr lang="en-US" dirty="0"/>
              <a:t>More evenly distributed. </a:t>
            </a:r>
          </a:p>
          <a:p>
            <a:r>
              <a:rPr lang="en-US" dirty="0"/>
              <a:t>Medium companies (30.7%) outnumber Enterprise (15.4%) — being established does not guarantee high revenue.
CUSTOMER TIER: </a:t>
            </a:r>
          </a:p>
          <a:p>
            <a:r>
              <a:rPr lang="en-US" dirty="0"/>
              <a:t>Three values — Mass-Scale (95.6%), Standard (near 0%), Niche (4.4%). </a:t>
            </a:r>
          </a:p>
          <a:p>
            <a:r>
              <a:rPr lang="en-US" dirty="0"/>
              <a:t>The Standard band is extremely thin. </a:t>
            </a:r>
          </a:p>
          <a:p>
            <a:r>
              <a:rPr lang="en-US" dirty="0"/>
              <a:t>The Niche segment (4.4%) is what the later multivariate analysis will identify as disproportionately efficient.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VARIABLES INTERACT?
CHARTS SHOWN: Monthly Market Revenue Trend (top) + Annual Revenue Distribution by Industry — Boxplot (bottom).
CHARTS ALSO ANALYZED IN BIVARIATE (not shown in PPT, present in notebook):
- Standard scatter plot: Customer Count vs Annual Revenue — rectangular block shape, near-zero correlation
- Hexbin density plot: Employee Count vs Annual Revenue — uniform density, no diagonal concentration
- Quarterly profit trend: Q1 always lowest margins, Q4 always highest — margin cycle is counter to revenue cycle
- Total Market Wealth by Business Model — Treemap: Mass-Scale models control bulk of total market wealth
- Cross-tab heatmap: Industry vs Business Model — every sector uses same business model mix in identical proportions
- Industry vs Market Ratings — Stacked bar: 40/40/20 split identical across all 5 sectors
KEY FINDINGS:
</a:t>
            </a:r>
          </a:p>
          <a:p>
            <a:r>
              <a:rPr lang="en-US" dirty="0"/>
              <a:t>MONTHLY: </a:t>
            </a:r>
          </a:p>
          <a:p>
            <a:r>
              <a:rPr lang="en-US" dirty="0"/>
              <a:t>Revenue oscillates between ~280,000–360,000 million with no long-term trend. </a:t>
            </a:r>
          </a:p>
          <a:p>
            <a:r>
              <a:rPr lang="en-US" dirty="0"/>
              <a:t>Three seasonal peaks per year. Context is essential for interpreting any single month's figure.
INDUSTRY BOXPLOT:</a:t>
            </a:r>
          </a:p>
          <a:p>
            <a:r>
              <a:rPr lang="en-US" dirty="0"/>
              <a:t>Q1≈$300M, Median≈$550M, Q3≈$800M for ALL five industries. </a:t>
            </a:r>
          </a:p>
          <a:p>
            <a:r>
              <a:rPr lang="en-US" dirty="0"/>
              <a:t>No visual difference between sectors. </a:t>
            </a:r>
          </a:p>
          <a:p>
            <a:r>
              <a:rPr lang="en-US" dirty="0"/>
              <a:t>This is the definitive proof that industry sector cannot predict revenue outcome.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ARE THE MARKET LEADERS?
CHARTS SHOWN: Business Pipeline Funnel 
FUNNEL BREAKDOWN:
1. Total Market: 15,000 (100%)
2. Established Age: 13,094 (87.3%)
3. Mass-Scale Customers: 12,513 (83.4%)
4. Large/Enterprise Revenue: 5,599 (37.3%) ← SHARPEST DROP — most companies fail here
5. High Profit Margin: 2,744 (18.3%)
6. Market Leader Rating: 505 (3.4%) ← THE FINAL ELITE GROUP
CORE ANSWER: Market Leaders are NOT the biggest — they are the most efficient.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8314-82C2-F7EA-B6D7-70489951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FC8CC-B44B-D003-D1F5-F74D8FA6D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232BCC-9A59-B9E2-7F12-9C442315C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THE MARKET LEADER DNA?
CHARTS SHOWN: 5-Axis Radar Chart — Structural DNA of a Market Leader (bottom).
CHARTS ALSO ANALYZED (not shown in PPT, present in notebook):
- 6-axis radar chart for individual industry profiles (Finance, Technology, Retail): </a:t>
            </a:r>
          </a:p>
          <a:p>
            <a:r>
              <a:rPr lang="en-US" dirty="0"/>
              <a:t>Each sector's Market Leader archetype has a distinct shape — Technology peaks on Workforce Yield, Healthcare peaks on Profitability
RADAR CHART — 5 AXES:
1. Operational Scale (Employees)
2. Market Reach (Customers)
3. Financial Scale (Revenue)
4. Profitability (Margin %)
5. Workforce Yield (Rev/Emp)
MARKET LEADERS (green): Strong on Revenue and Workforce Yield, moderate on everything else.
AVERAGE PERFORMERS (blue): Largest customers — high volume, modest return.
LOW PERFORMERS (grey): Largest employees — bloated workforce, low efficiency.
CORE ANSWER: Market Leaders are NOT the biggest — they are the most efficient.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12FFE-5627-E86E-F716-C6B92A69C3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170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 MULTIPLE FACTORS INTERACT?
CHARTS SHOWN: Business Model Efficiency — Revenue per Employee by Industry (Grouped Bar Chart).
CHARTS ALSO ANALYZED IN MULTIVARIATE (not shown in PPT, present in notebook):</a:t>
            </a:r>
          </a:p>
          <a:p>
            <a:r>
              <a:rPr lang="en-US" dirty="0"/>
              <a:t>
- Historical trajectories of revenue across founding years by industry (multi-line chart, split into top 2 and bottom 3 industries): </a:t>
            </a:r>
          </a:p>
          <a:p>
            <a:r>
              <a:rPr lang="en-US" dirty="0"/>
              <a:t>No industry shows consistent upward or downward trend over 30 years. </a:t>
            </a:r>
          </a:p>
          <a:p>
            <a:r>
              <a:rPr lang="en-US" dirty="0"/>
              <a:t>Revenue stays within a $480M–$620M band regardless of founding era. </a:t>
            </a:r>
          </a:p>
          <a:p>
            <a:r>
              <a:rPr lang="en-US" dirty="0"/>
              <a:t>Age does not predict revenue.
KEY FINDINGS:</a:t>
            </a:r>
          </a:p>
          <a:p>
            <a:r>
              <a:rPr lang="en-US" dirty="0"/>
              <a:t>
- Technology Large/Niche: $3.04M per employee ← single most important data point in the analysis
- Healthcare Enterprise/Standard: ~$1.56M per employee ← second most important
- All Mass-Scale variants across all 5 industries: $0.15–$0.35M per employee
The fact that Niche &gt; Standard &gt; Mass-Scale efficiency pattern holds across all 5 industries confirms this is a structural market dynamic. </a:t>
            </a:r>
          </a:p>
          <a:p>
            <a:r>
              <a:rPr lang="en-US" dirty="0"/>
              <a:t>Adding more employees or customers consistently dilutes per-unit efficiency in every sector.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WHICH METRICS MOVE TOGETHER?
CHARTS SHOWN: Comprehensive Correlation Heatmap — all 10 numerical variables (5 base + 5 engineered).
KEY CORRELATION VALUES:
- annual_revenue vs employee_count: −0.002
- annual_revenue vs customer_count: −0.003
- annual_revenue vs rev_per_emp: +0.300 (moderate — efficient companies do earn more)
- rev_per_emp vs cust_per_emp: +0.682 (strongest positive)
- rev_per_emp vs employee_count: −0.518 (negative — more employees = lower efficiency)
- rev_per_customer vs customer_count: −0.395 (negative — more customers = lower per-customer revenue)
THE −0.518 IS CRUCIAL: </a:t>
            </a:r>
          </a:p>
          <a:p>
            <a:r>
              <a:rPr lang="en-US" dirty="0"/>
              <a:t>It mathematically proves that adding more employees decreases per-employee efficiency. </a:t>
            </a:r>
          </a:p>
          <a:p>
            <a:r>
              <a:rPr lang="en-US" dirty="0"/>
              <a:t>This is the Scale Paradox in correlation form — previewing the next slide.
NO MULTICOLLINEARITY: </a:t>
            </a:r>
          </a:p>
          <a:p>
            <a:r>
              <a:rPr lang="en-US" dirty="0"/>
              <a:t>No base variable pair exceeds the 0.7 threshold that would make one redundant. </a:t>
            </a:r>
          </a:p>
          <a:p>
            <a:r>
              <a:rPr lang="en-US" dirty="0"/>
              <a:t>All 10 features contribute genuinely different information — validating the feature engineering decisions.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SURPRISING PATTERN EXISTS?
CHARTS SHOWN: The Scale Paradox — Total Revenue (bars) vs. Median Profit Margin (line) across Business Models.
READING THE CHART:
- Navy/purple bars (left Y-axis): Total market revenue for each business model
- Teal line (right Y-axis): Median profit margin for each model
- The two series consistently move in OPPOSITE directions — as bars go up, the line goes down
KEY DATA POINTS:
- Large/Mass-Scale: Highest total revenue | 24.6% margin
- Enterprise/Mass-Scale: 2nd highest revenue | 24.7% margin
- Medium/Mass-Scale: 3rd highest | 25.6% margin
- Micro/Standard: Low revenue | 22.2% margin ← the dip
- Large/Niche: Lowest revenue | 37.0% margin ← the striking peak
THE PARADOX: </a:t>
            </a:r>
          </a:p>
          <a:p>
            <a:r>
              <a:rPr lang="en-US" dirty="0"/>
              <a:t>Mass-Scale operations require more staff, more infrastructure, more coordination overhead. </a:t>
            </a:r>
          </a:p>
          <a:p>
            <a:r>
              <a:rPr lang="en-US" dirty="0"/>
              <a:t>The cost of scale grows faster than the revenue it generates. </a:t>
            </a:r>
          </a:p>
          <a:p>
            <a:r>
              <a:rPr lang="en-US" dirty="0"/>
              <a:t>Niche operators avoid this overhead — they generate less total revenue but keep significantly more of each dollar earned.
This directly challenges the business assumption that 'growing bigger = growing more profitably.’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THERE OUTLIERS?
METHOD: Interquartile Range (IQR) — Outlier boundary: Q1 − 1.5×IQR (lower) and Q3 + 1.5×IQR (upper).
CHARTS SHOWN: Boxplot dashboard for 5 base numerical metrics.
CHARTS ALSO ANALYZED (not shown in PPT, present in notebook):
- Outlier analysis table for base metrics: exact Q1, Q3, IQR boundary values with outlier counts
- Q-Q Plot dashboard for base metrics: all 5 track the diagonal line — normality confirmed
BASE METRIC RESULTS:
- Annual Revenue Million: 0 outliers ✅
- Employee Count: 0 outliers ✅
- Customer Count: 0 outliers ✅
- Profit Margin Percent: 0 outliers ✅
- Market Rating: 0 outliers ✅
WHY SHOW CLEAN BOXPLOTS FIRST:
The two-slide outlier structure is deliberate. </a:t>
            </a:r>
          </a:p>
          <a:p>
            <a:r>
              <a:rPr lang="en-US" dirty="0"/>
              <a:t>Showing zero outliers in base metrics first makes the contrast with efficiency ratios dramatically more impactful on the next slide. </a:t>
            </a:r>
          </a:p>
          <a:p>
            <a:r>
              <a:rPr lang="en-US" dirty="0"/>
              <a:t>The audience understands: the anomalies are not random — they are specifically and exclusively in the efficiency ratios. </a:t>
            </a:r>
          </a:p>
          <a:p>
            <a:r>
              <a:rPr lang="en-US" dirty="0"/>
              <a:t>This is a coherent, identifiable group behaving at a fundamentally different level.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DID WE DO WITH THESE OUTLIERS?
CHARTS SHOWN: Boxplot dashboard for 5 engineered numerical metrics + Retention Decision callout.
CHARTS ALSO ANALYZED (not shown in PPT, present in notebook):
- Outlier analysis table for engineered metrics: exact Q1, Q3, IQR boundaries and outlier counts
- Q-Q Plot dashboard for engineered metrics: all three-efficiency ratio Q-Q plots show sharp detachment from the diagonal above the 95th percentile
VISUAL: </a:t>
            </a:r>
          </a:p>
          <a:p>
            <a:r>
              <a:rPr lang="en-US" dirty="0"/>
              <a:t>Each of the three efficiency ratio boxplots shows a compact IQR box at the bottom with a long trail of crimson dots extending dramatically upward. </a:t>
            </a:r>
          </a:p>
          <a:p>
            <a:r>
              <a:rPr lang="en-US" dirty="0"/>
              <a:t>Company Age and Industry Density remain clean.
EXACT OUTLIER COUNTS:
- Rev/Emp: 1,646 (11.0%)
- Rev/Customer: 1,638 (10.9%)
- Cust/Emp: 1,818 (12.1%)
RETENTION — 5 REASONS:
1. 11% rate is far above random noise (&lt;1-2%)
2. Same companies appear across all three ratio columns — coherent, identifiable group
3. Genuinely different operational characteristics — not measurement errors
4. Removing them eliminates the Market Leader segment from analysis entirely
5. Future ML should use capped/scaled versions — EDA requires full retention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EXECUTIVES CONSUME THIS?
This dashboard is placed here — because showing a dashboard first gives no context to interpret it. The story must come before the summary.
DASHBOARD METRICS:
Row 1: Total Companies 15,000 | Column Expansion 11→21 | Countries|Regions 4|3 | Unique Industries 5
Row 2: Avg Annual Revenue $549.7M | Avg Employee Count 2,607 | Median Profit Margin 24.9% | Base Data Distribution: Uniform
Row 3: Max Rev/Employee $10.32M | Max Cust/Employee 892 | Market Leaders (Funnel) 505 | Elite Ceiling 3.4%
The 3.4% elite ceiling is the anchor number connecting every slide. Only 505 of 15,000 companies qualify simultaneously for all five Market Leader conditions. </a:t>
            </a:r>
          </a:p>
          <a:p>
            <a:r>
              <a:rPr lang="en-US" dirty="0"/>
              <a:t>This is the precise, quantitative answer to the project's central question i.e. decoding MARKET LEADERS!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CHALLENGES</a:t>
            </a:r>
            <a:r>
              <a:rPr lang="en-US" dirty="0"/>
              <a:t> 
01. LIBRARY SCOPE: Brief specified 4 libraries. Analysis required 7. scipy.stats for skewness(), kurtosis(), probplot() for Q-Q charts. squarify for treemap layout. sklearn MinMaxScaler to normalize the 5-axis radar chart to 0-1 scale. Each was essential for a specific deliverable.
02. SYNTHETIC DATA: Perfectly flat base distributions meant standard EDA was useless. Recognizing this early — rather than forcing interpretation onto meaningless uniformity — was the first critical analytical decision.
03. BEYOND THE BRIEF: The decision to engineer 10 features when only 12 base columns were requested could have been seen as scope creep. The justification: uniform base metrics cannot produce differentiated insights. Feature engineering was the minimum necessary for meaningful output.
04. OUTLIER RETENTION: Standard ML textbook says remove outliers. Context said retain them. The statistical reasoning: 11% consistently across 3 columns, same companies appearing across all three flags, genuine operational behavior. Choosing the defensible path over the conventional one.</a:t>
            </a:r>
          </a:p>
          <a:p>
            <a:endParaRPr lang="en-US" sz="1200" b="1" dirty="0">
              <a:solidFill>
                <a:srgbClr val="F59E0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r>
              <a:rPr lang="en-US" sz="1200" b="1" dirty="0">
                <a:solidFill>
                  <a:srgbClr val="F59E0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LEARNINGS:  </a:t>
            </a:r>
          </a:p>
          <a:p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01. Raw data uniformity demands analytical creativity </a:t>
            </a:r>
            <a:r>
              <a:rPr lang="en-IN" sz="1200" dirty="0">
                <a:solidFill>
                  <a:schemeClr val="bg1"/>
                </a:solidFill>
              </a:rPr>
              <a:t>—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uniform distributions are not the end; they are the beginning.</a:t>
            </a:r>
          </a:p>
          <a:p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02. Context-aware reasoning outperforms textbook convention </a:t>
            </a:r>
            <a:r>
              <a:rPr lang="en-IN" sz="1200" dirty="0">
                <a:solidFill>
                  <a:schemeClr val="bg1"/>
                </a:solidFill>
              </a:rPr>
              <a:t>— 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retaining the 11% outlier group was the correct decision despite standard ML practice.</a:t>
            </a:r>
          </a:p>
          <a:p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03. Feature engineering is the bridge between data and insight </a:t>
            </a:r>
            <a:r>
              <a:rPr lang="en-IN" sz="1200" dirty="0">
                <a:solidFill>
                  <a:schemeClr val="bg1"/>
                </a:solidFill>
              </a:rPr>
              <a:t>— </a:t>
            </a:r>
            <a:r>
              <a:rPr lang="en-US" sz="1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without it, 15,000 companies looked statistically identical.</a:t>
            </a:r>
          </a:p>
          <a:p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DID WE LEARN?
FIVE CONCLUSIONS:
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The Uniform Market Baseline: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five original numerical metrics — Revenue, Employee Count, Customer Count, Profit Margin, and Market Rating —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demonstrated near-perfect distributional uniformity with skewness values between −0.027 and +0.027 and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negative kurtosis of approximately −1.19 across all columns.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No single industry, country, or geographic region holds a structural baseline advantage.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The market playing field is mathematically level.</a:t>
            </a:r>
          </a:p>
          <a:p>
            <a:endParaRPr lang="en-I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The Scale Paradox: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Engineered efficiency ratios exhibited extreme right-skew (Rev/Employee: 5.58, Rev/Customer: 9.34, Cust/Employee: 5.28)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and massive positive kurtosis (up to 118.9), in direct contrast to the uniform base metrics.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Cross-sector analysis confirmed that Mass-Scale business models generate the highest total revenue but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consistently produce the lowest profit margins (~24.6%),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while focused Niche operators achieve margins as high as 37.0% with a fraction of the workforce.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Competitive advantage is not found in organizational size — it is found in operational density.</a:t>
            </a:r>
          </a:p>
          <a:p>
            <a:endParaRPr lang="en-I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The Technology Niche Anomaly: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The single most significant finding of the multivariate analysis is that Technology companies operating under a Large/Niche business model generate approximately $3.04M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  revenue per employee — the highest efficiency ratio of any industry-model combination in the dataset.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This pattern, while most extreme in Technology, is structurally consistent across all five sectors: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Niche and Standard operators outperform Mass-Scale operators on a per-unit efficiency basis in every industry.</a:t>
            </a:r>
          </a:p>
          <a:p>
            <a:b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 The 3.4% Elite Ceiling: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The business pipeline funnel, applying five sequential operational filters — Established Age, Mass-Scale Customers, Large or Enterprise Revenue, High Profit Margin, and Market Leader Rating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reduced 15,000 companies to just 505 qualifying entities (3.4%). This quantifies precisely how rare simultaneous multi-dimensional excellence is in this market.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  The revenue tier filter proved to be the sharpest single eliminator, dropping the qualifying pool from 83.4% to 37.3%.</a:t>
            </a:r>
          </a:p>
          <a:p>
            <a:b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 Temporal and Regional Neutrality: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Correlation analysis confirmed near-zero relationships between founding year, country, region, and all performance outcomes.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A company's geographic location and operational age do not artificially inflate or restrict its revenue potential. </a:t>
            </a:r>
          </a:p>
          <a:p>
            <a:r>
              <a:rPr lang="en-I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Performance is determined entirely by operational behaviour, not structural position.</a:t>
            </a:r>
          </a:p>
          <a:p>
            <a:r>
              <a:rPr lang="en-US" dirty="0"/>
              <a:t>
FOUR FUTURE SCOPES:
1. K-Means Clustering: Formally define efficiency archetypes beyond the funnel filter
2. Streamlit Dashboard: Real-time executive access with drill-down filters
3. Predictive Modelling: Classify Market Leader probability for new company profiles
4. Longitudinal Analysis: Determine if elite performance is stable or transient over multiple years
Thank you for your precious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6291072"/>
            <a:ext cx="1164031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866121" y="2187102"/>
            <a:ext cx="8854751" cy="11756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Industry Performance EDA</a:t>
            </a:r>
            <a:endParaRPr lang="en-US" sz="4600" b="1" dirty="0">
              <a:latin typeface="Bahnschrift" panose="020B0502040204020203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11261" y="3282886"/>
            <a:ext cx="47959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4B8A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Decoding the Market Leaders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25596" y="3969243"/>
            <a:ext cx="54864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38930" y="5797296"/>
            <a:ext cx="386287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Yousuf S. R. Sakkaf    	|        Version 2.0</a:t>
            </a:r>
            <a:endParaRPr 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55648" y="146677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Dataset Overview : The Starting Point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932688"/>
            <a:ext cx="11365992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11064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15,000 company records · 5 Industries · 4 Countries · 3 Regions · Founded: 1990–2020 · Each column below was present in the raw dataset before any transformation.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2920" y="1481328"/>
            <a:ext cx="26517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02920" y="148132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1536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481328"/>
            <a:ext cx="26517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337560" y="1481328"/>
            <a:ext cx="265176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337560" y="1536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1481328"/>
            <a:ext cx="26517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72200" y="148132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72200" y="1536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17220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06840" y="1481328"/>
            <a:ext cx="2651760" cy="74980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06840" y="1481328"/>
            <a:ext cx="2651760" cy="548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006840" y="1536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006840" y="193852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377440"/>
            <a:ext cx="5486400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2920" y="2377440"/>
            <a:ext cx="54864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12648" y="2414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2648" y="2624328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identifier — no analytical value (will be dropped)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" y="288036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02920" y="288036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12648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company_name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" y="3127248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company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" y="338328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02920" y="338328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12648" y="3419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2648" y="3630168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sector — 5 categories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" y="388620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02920" y="388620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612648" y="39227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" y="4133088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of operation — 4 countries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2920" y="438912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02920" y="438912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2648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employee_count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2648" y="4636008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employees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" y="4892040"/>
            <a:ext cx="54864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02920" y="489204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2648" y="4928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annual_revenue_million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12648" y="5138928"/>
            <a:ext cx="5303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in USD millions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172200" y="2377440"/>
            <a:ext cx="559612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172200" y="237744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81928" y="2414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profit_margin_percent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81928" y="2624328"/>
            <a:ext cx="5413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as a percentage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72200" y="2880360"/>
            <a:ext cx="559612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6172200" y="288036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281928" y="29169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founded_year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281928" y="3127248"/>
            <a:ext cx="5413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company was established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72200" y="3383280"/>
            <a:ext cx="559612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6172200" y="338328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281928" y="34198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customer_count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81928" y="3630168"/>
            <a:ext cx="5413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customers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172200" y="3886200"/>
            <a:ext cx="559612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6172200" y="388620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6281928" y="392277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market_rating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81928" y="4133088"/>
            <a:ext cx="5413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performance score (1–5)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72200" y="4389120"/>
            <a:ext cx="559612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6172200" y="438912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281928" y="44256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created_date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81928" y="4636008"/>
            <a:ext cx="5413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creation date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172200" y="4892040"/>
            <a:ext cx="5596128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172200" y="4892040"/>
            <a:ext cx="54864" cy="457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281928" y="4928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281928" y="5138928"/>
            <a:ext cx="5413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region — 3 regions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02920" y="6035040"/>
            <a:ext cx="11365992" cy="5029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658368" y="6035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Key Gap:  </a:t>
            </a:r>
            <a:r>
              <a:rPr lang="en-US" sz="140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These columns tell us who a company is and how big it is — but none of them measure </a:t>
            </a:r>
            <a:r>
              <a:rPr lang="en-US" sz="1400" b="1" dirty="0">
                <a:solidFill>
                  <a:srgbClr val="14B8A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how efficiently it operates. 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704298" y="173643"/>
            <a:ext cx="883826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Analytical Framework : 8-Phase EDA Pipeline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232854"/>
            <a:ext cx="11365992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1232854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Our Goal:  </a:t>
            </a:r>
            <a:r>
              <a:rPr lang="en-US" sz="1200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15,000 companies. We need to decode the Market Leaders. This pipeline systematically uncovers what separates them from the remaining.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87082" y="2382012"/>
            <a:ext cx="135331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87082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7082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0372" y="3864833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87082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goal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843449" y="3163824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14292" y="2382012"/>
            <a:ext cx="135331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995258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95258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98548" y="3846172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995258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validate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32404" y="3163824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403434" y="2382012"/>
            <a:ext cx="135331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403434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403434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28862" y="3864833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03434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· 0 dupes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6146" y="3158459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11610" y="2382012"/>
            <a:ext cx="1353312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11610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811610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69764" y="3864833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11610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baseline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68568" y="3172968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6219786" y="2382012"/>
            <a:ext cx="1353312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219786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219786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77940" y="3864833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219786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29500" y="3169096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627962" y="2382012"/>
            <a:ext cx="1353312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627962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627962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836408" y="3883494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7627962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Uni/Bi/Multivariate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860536" y="3169096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040710" y="2382012"/>
            <a:ext cx="1353312" cy="2011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9036138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036138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9194292" y="3866699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9036138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&amp; decide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0293687" y="3158459"/>
            <a:ext cx="54864" cy="347472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10444314" y="2382012"/>
            <a:ext cx="1353312" cy="2011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3" name="Text 51"/>
          <p:cNvSpPr/>
          <p:nvPr/>
        </p:nvSpPr>
        <p:spPr>
          <a:xfrm>
            <a:off x="10444314" y="2473452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10444314" y="2912364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0581474" y="3864833"/>
            <a:ext cx="1078992" cy="0"/>
          </a:xfrm>
          <a:prstGeom prst="line">
            <a:avLst/>
          </a:prstGeom>
          <a:noFill/>
          <a:ln w="63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0444314" y="3881628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leaders</a:t>
            </a:r>
            <a:endParaRPr lang="en-US" sz="8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87082" y="5111496"/>
            <a:ext cx="11365992" cy="475488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742530" y="51114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Missing Values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across 15,000 rows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577170" y="51114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Duplicates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— every entry unique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411810" y="51114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Data Types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created_date &amp; categories corrected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246450" y="5111496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Column Count 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→ 21 (−1 dropped, +10 engineered)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96762" y="5797296"/>
            <a:ext cx="54315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Phases 01–04: Data Auditing &amp; Quality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044184" y="5797296"/>
            <a:ext cx="5788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Phases 05–08: Statistical Discovery &amp; Decoding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04532" y="164591"/>
            <a:ext cx="108450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Feature Engineering : From Raw Data to Analytical Value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932688"/>
            <a:ext cx="11365992" cy="438912"/>
          </a:xfrm>
          <a:prstGeom prst="rect">
            <a:avLst/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8368" y="932688"/>
            <a:ext cx="11064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All 12 original metrics showed near-perfect uniformity — every company looked identical on base metrics. Feature engineering was the only way to expose the operational differences that actually matter.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1536192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280" y="1591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097280" y="2066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865376"/>
            <a:ext cx="457200" cy="310896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840480" y="1536192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0" y="1591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840480" y="2066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dropped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value)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865376"/>
            <a:ext cx="457200" cy="310896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583680" y="1536192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1591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583680" y="2066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823960" y="1865376"/>
            <a:ext cx="457200" cy="310896"/>
          </a:xfrm>
          <a:prstGeom prst="rightArrow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9326880" y="1536192"/>
            <a:ext cx="2194560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9326880" y="15910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26880" y="206654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Analysis-Ready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697480"/>
            <a:ext cx="54864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2697480"/>
            <a:ext cx="54864" cy="512064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58368" y="27432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</a:t>
            </a: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</a:p>
        </p:txBody>
      </p:sp>
      <p:sp>
        <p:nvSpPr>
          <p:cNvPr id="28" name="Text 26"/>
          <p:cNvSpPr/>
          <p:nvPr/>
        </p:nvSpPr>
        <p:spPr>
          <a:xfrm>
            <a:off x="658368" y="296265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founding year into comparable years of age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3264408"/>
            <a:ext cx="54864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02920" y="3264408"/>
            <a:ext cx="54864" cy="512064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658368" y="3310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rev_per_emp</a:t>
            </a:r>
          </a:p>
        </p:txBody>
      </p:sp>
      <p:sp>
        <p:nvSpPr>
          <p:cNvPr id="32" name="Text 30"/>
          <p:cNvSpPr/>
          <p:nvPr/>
        </p:nvSpPr>
        <p:spPr>
          <a:xfrm>
            <a:off x="658368" y="352958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employees — removes the size advantage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2920" y="3831336"/>
            <a:ext cx="54864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02920" y="3831336"/>
            <a:ext cx="54864" cy="512064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58368" y="387705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rev_per_customer</a:t>
            </a:r>
          </a:p>
        </p:txBody>
      </p:sp>
      <p:sp>
        <p:nvSpPr>
          <p:cNvPr id="36" name="Text 34"/>
          <p:cNvSpPr/>
          <p:nvPr/>
        </p:nvSpPr>
        <p:spPr>
          <a:xfrm>
            <a:off x="658368" y="409651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÷ customers — measures customer value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4398264"/>
            <a:ext cx="54864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02920" y="4398264"/>
            <a:ext cx="54864" cy="512064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58368" y="44439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cust_per_emp</a:t>
            </a:r>
          </a:p>
        </p:txBody>
      </p:sp>
      <p:sp>
        <p:nvSpPr>
          <p:cNvPr id="40" name="Text 38"/>
          <p:cNvSpPr/>
          <p:nvPr/>
        </p:nvSpPr>
        <p:spPr>
          <a:xfrm>
            <a:off x="658368" y="466344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÷ employees — measures operational scale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02920" y="4965192"/>
            <a:ext cx="54864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02920" y="4965192"/>
            <a:ext cx="54864" cy="512064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658368" y="501091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industry_density</a:t>
            </a:r>
          </a:p>
        </p:txBody>
      </p:sp>
      <p:sp>
        <p:nvSpPr>
          <p:cNvPr id="44" name="Text 42"/>
          <p:cNvSpPr/>
          <p:nvPr/>
        </p:nvSpPr>
        <p:spPr>
          <a:xfrm>
            <a:off x="658368" y="52303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competitors in the same sector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2697480"/>
            <a:ext cx="55961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172200" y="2697480"/>
            <a:ext cx="54864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327648" y="2743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age_tier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27648" y="296265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stage: Growth / Established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72200" y="3264408"/>
            <a:ext cx="55961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172200" y="3264408"/>
            <a:ext cx="54864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327648" y="3310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rating_tier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3529584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Performance: Low / Average / Market Leader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172200" y="3831336"/>
            <a:ext cx="55961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172200" y="3831336"/>
            <a:ext cx="54864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327648" y="38770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revenue_tier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27648" y="409651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scale: Micro / Medium / Large / Enterprise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172200" y="4398264"/>
            <a:ext cx="55961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6172200" y="4398264"/>
            <a:ext cx="54864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27648" y="44439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customer_tier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6327648" y="46634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Niche / Standard / Mass-Scale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72200" y="4965192"/>
            <a:ext cx="5596128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6172200" y="4965192"/>
            <a:ext cx="54864" cy="512064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27648" y="5010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business_model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6327648" y="52303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revenue × customer tier strategy label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28016"/>
            <a:ext cx="1100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Univariate Analysis : Base Metric Distributions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64384" y="585403"/>
            <a:ext cx="6480110" cy="1918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metric distributions examined one variable at a time — skewness and kurtosis included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univariate_histogram_dashboard_bas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51163"/>
            <a:ext cx="8229600" cy="5596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Near-zero skewness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Range: −0.020 to +0.027 across all 5 columns. Perfectly symmetrical — mean and median nearly identical throughout.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Negative kurtosis (≈ −1.19)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Platykurtic — flatter than normal. No dominant cluster at any value range. Every point in the distribution is equally likely.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Baseline established for comparison</a:t>
            </a:r>
            <a:endParaRPr lang="en-US" sz="1100" b="1" dirty="0">
              <a:solidFill>
                <a:srgbClr val="0D2137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With symmetrical, bounded distributions confirmed across all base metrics, any deviation found in engineered features will be statistically meaningful — not noise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 outliers in base data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Clean, bounded distributions with no extreme points — confirmed formally by the IQR outlier phase later.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79683"/>
            <a:ext cx="12216569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Univariate Analysis : Skewness &amp; Kurtosis of Engineered Features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univariate_histogram_dashboard_engine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56" y="995391"/>
            <a:ext cx="7960659" cy="54132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732520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Rev/Emp: Skew 5.58, Kurt 42.2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Extreme right tail. Most companies cluster at low efficiency — a small group extends dramatically to the right.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Rev/Customer: Skew 9.34, Kurt 118.9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most extreme distribution in the dataset. Near-vertical spike at low values with an exceptionally heavy right tail.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Cust/Emp: Skew 5.28, Kurt 37.2</a:t>
            </a: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Same right-skewed pattern — the outlier group operating at dramatically higher customer-per-employee scale is visible.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Age &amp; Density: still flat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Company Age (skew −0.021) and Industry Density (skew 0.000) remain uniform — structural, not performance features.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128016"/>
            <a:ext cx="11155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dirty="0">
                <a:latin typeface="Bahnschrift" panose="020B0502040204020203" pitchFamily="34" charset="0"/>
              </a:rPr>
              <a:t> </a:t>
            </a:r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Univariate Analysis : Engineered Tier Composition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univariate_donut_ti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8229600" cy="5596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87.3% Established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 startups present. This is a snapshot of a mature, established market — companies with 10+ years dominate entirely.</a:t>
            </a: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40/40/20 Rating Split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5072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19.1% of companies carry a Market Leader rating based on the market_rating column alone. Only 3.4% satisfy all five funnel conditions simultaneously — as seen in the Elite Funnel slide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Revenue more varied</a:t>
            </a: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Medium (30.7%), Large (28.9%), Micro (25%), Enterprise (15.4%). Being established does not guarantee high revenue.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95.6% Mass-Scale, 4.4% Niche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Customer Tier also has a Standard band (near 0%). Mass-Scale operators dominate. True Niche operators are extremely rare.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9632" y="109728"/>
            <a:ext cx="10950407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Bivariate Analysis : Revenue Trends &amp; Industry Performance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10086" y="539496"/>
            <a:ext cx="5069322" cy="255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100" i="1" dirty="0">
                <a:latin typeface="Segoe UI" panose="020B0502040204020203" pitchFamily="34" charset="0"/>
                <a:cs typeface="Segoe UI" panose="020B0502040204020203" pitchFamily="34" charset="0"/>
              </a:rPr>
              <a:t>Time-series trends and cross-industry revenue distribution compared</a:t>
            </a:r>
            <a:endParaRPr lang="en-US" sz="11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bivariate_monthly_revenu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2" y="896112"/>
            <a:ext cx="8229597" cy="2651759"/>
          </a:xfrm>
          <a:prstGeom prst="rect">
            <a:avLst/>
          </a:prstGeom>
        </p:spPr>
      </p:pic>
      <p:pic>
        <p:nvPicPr>
          <p:cNvPr id="9" name="Image 1" descr="/mnt/user-data/uploads/bivariate_industry_boxpl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66744"/>
            <a:ext cx="8229600" cy="28529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Revenue is seasonal</a:t>
            </a:r>
          </a:p>
        </p:txBody>
      </p:sp>
      <p:sp>
        <p:nvSpPr>
          <p:cNvPr id="13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Three peaks per year aligned with Q1, Q2, Q3 starts. A low-revenue month reflects the natural cycle — not poor performance.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Jan 2025: highest spike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~$360B total revenue. Q1 budget-release effect. Feb 2026 drop is the start of a new cycle, not a declining trend.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Industry = no advantage</a:t>
            </a:r>
          </a:p>
        </p:txBody>
      </p:sp>
      <p:sp>
        <p:nvSpPr>
          <p:cNvPr id="19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All 5 industry boxplots show near-identical spread — comparable medians around $550M, overlapping distributions, and no visible outlier points. No sector holds a meaningful revenue advantage.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Sector cannot predict outcome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Whether a company is Finance or Technology tells us nothing about its revenue. The null finding is visually confirmed.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71954" y="169659"/>
            <a:ext cx="10248092" cy="4547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200" dirty="0"/>
              <a:t> </a:t>
            </a:r>
            <a:r>
              <a:rPr lang="en-IN" sz="3000" b="1" dirty="0">
                <a:solidFill>
                  <a:srgbClr val="0D2137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Identifying Market Leaders : The Elite Funnel</a:t>
            </a:r>
            <a:endParaRPr lang="en-US" sz="3000" b="1" dirty="0">
              <a:solidFill>
                <a:srgbClr val="0D2137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univariate_funnel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078" y="896111"/>
            <a:ext cx="7855441" cy="545993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791956" y="896112"/>
            <a:ext cx="3337560" cy="551496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Shape 7"/>
          <p:cNvSpPr/>
          <p:nvPr/>
        </p:nvSpPr>
        <p:spPr>
          <a:xfrm>
            <a:off x="8814816" y="909445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8881112" y="9769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Being established is the norm</a:t>
            </a:r>
            <a:endParaRPr lang="en-US" sz="11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8892542" y="1169113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Filters 2 and 3 barely narrow the pool — 87.3% pass the age filter and 83.4% pass the customer scale filter. Being established and mass-scale is a baseline expectation in this market, not a differentiator.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910831" y="2418477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Revenue separates the market</a:t>
            </a:r>
            <a:endParaRPr lang="en-US" sz="1100" b="1" dirty="0"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922261" y="2591279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Filter 4 eliminates 6,914 companies in a single step — the largest exit in the entire pipeline. Having scale but insufficient revenue is the most common failure mode</a:t>
            </a:r>
            <a:r>
              <a:rPr lang="en-IN" sz="1000" dirty="0">
                <a:solidFill>
                  <a:srgbClr val="64748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.</a:t>
            </a:r>
            <a:endParaRPr lang="en-US" sz="1000" dirty="0">
              <a:solidFill>
                <a:srgbClr val="64748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851393" y="3605130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72">
            <a:extLst>
              <a:ext uri="{FF2B5EF4-FFF2-40B4-BE49-F238E27FC236}">
                <a16:creationId xmlns:a16="http://schemas.microsoft.com/office/drawing/2014/main" id="{50E93F52-014A-44C5-6A88-FBC519BE0C9D}"/>
              </a:ext>
            </a:extLst>
          </p:cNvPr>
          <p:cNvSpPr/>
          <p:nvPr/>
        </p:nvSpPr>
        <p:spPr>
          <a:xfrm>
            <a:off x="718458" y="6460071"/>
            <a:ext cx="11287614" cy="397926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73">
            <a:extLst>
              <a:ext uri="{FF2B5EF4-FFF2-40B4-BE49-F238E27FC236}">
                <a16:creationId xmlns:a16="http://schemas.microsoft.com/office/drawing/2014/main" id="{2A574F3A-5EC9-C6B4-08FC-3BAC93657968}"/>
              </a:ext>
            </a:extLst>
          </p:cNvPr>
          <p:cNvSpPr/>
          <p:nvPr/>
        </p:nvSpPr>
        <p:spPr>
          <a:xfrm>
            <a:off x="971954" y="6439329"/>
            <a:ext cx="10778086" cy="4676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400" b="1" dirty="0">
                <a:solidFill>
                  <a:srgbClr val="009999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19.1% carry a Market Leader rating </a:t>
            </a:r>
            <a:r>
              <a:rPr lang="en-IN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based on market_rating score alone. </a:t>
            </a:r>
            <a:r>
              <a:rPr lang="en-IN" sz="1400" b="1" dirty="0">
                <a:solidFill>
                  <a:srgbClr val="FFCC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Only 3.4% satisfy all five conditions simultaneously.</a:t>
            </a:r>
            <a:endParaRPr lang="en-US" sz="1400" b="1" dirty="0">
              <a:solidFill>
                <a:srgbClr val="FFCC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01B494B8-184C-71CA-B69C-BC18BFDE9FC9}"/>
              </a:ext>
            </a:extLst>
          </p:cNvPr>
          <p:cNvSpPr/>
          <p:nvPr/>
        </p:nvSpPr>
        <p:spPr>
          <a:xfrm>
            <a:off x="8851393" y="2189790"/>
            <a:ext cx="3337560" cy="640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7E9D3FD2-3BC6-84CA-5E40-91E2C59E92D4}"/>
              </a:ext>
            </a:extLst>
          </p:cNvPr>
          <p:cNvSpPr/>
          <p:nvPr/>
        </p:nvSpPr>
        <p:spPr>
          <a:xfrm>
            <a:off x="8851393" y="4758407"/>
            <a:ext cx="3337560" cy="640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A0A55532-AE2A-5BBC-BE37-89B7A998F4F4}"/>
              </a:ext>
            </a:extLst>
          </p:cNvPr>
          <p:cNvSpPr/>
          <p:nvPr/>
        </p:nvSpPr>
        <p:spPr>
          <a:xfrm>
            <a:off x="8881112" y="3773161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Margin and rating are the final gatekeepers</a:t>
            </a:r>
            <a:endParaRPr lang="en-US" sz="1100" b="1" dirty="0"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49476BE6-C087-5981-9062-72773898A6A7}"/>
              </a:ext>
            </a:extLst>
          </p:cNvPr>
          <p:cNvSpPr/>
          <p:nvPr/>
        </p:nvSpPr>
        <p:spPr>
          <a:xfrm>
            <a:off x="8938260" y="496772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b="1" dirty="0">
                <a:latin typeface="Segoe UI" panose="020B0502040204020203" pitchFamily="34" charset="0"/>
                <a:cs typeface="Segoe UI" panose="020B0502040204020203" pitchFamily="34" charset="0"/>
              </a:rPr>
              <a:t>505 is the benchmark</a:t>
            </a:r>
            <a:endParaRPr lang="en-US" sz="1100" b="1" dirty="0"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7638ACEE-C00F-9031-C45B-EA7D9FE5A74E}"/>
              </a:ext>
            </a:extLst>
          </p:cNvPr>
          <p:cNvSpPr/>
          <p:nvPr/>
        </p:nvSpPr>
        <p:spPr>
          <a:xfrm>
            <a:off x="8922261" y="3942611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Even after clearing the revenue threshold, only 18.3% survive the profit margin filter and just 3.4% clear the final rating check. Strong revenue alone is not enough</a:t>
            </a:r>
            <a:r>
              <a:rPr lang="en-IN" sz="1000" dirty="0"/>
              <a:t>.</a:t>
            </a:r>
            <a:endParaRPr lang="en-US" sz="1000" dirty="0">
              <a:solidFill>
                <a:srgbClr val="64748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ECEF14ED-1899-23AE-0A32-66B9505F6479}"/>
              </a:ext>
            </a:extLst>
          </p:cNvPr>
          <p:cNvSpPr/>
          <p:nvPr/>
        </p:nvSpPr>
        <p:spPr>
          <a:xfrm>
            <a:off x="8967979" y="511846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These 505 companies simultaneously satisfy all five conditions. Their operational profile — decoded in the slides that follow — defines what Market Leader status actually looks like from the inside.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06211C-25F1-697C-87F5-4201AAF6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DD0479-178E-653B-C074-CEDF519D1428}"/>
              </a:ext>
            </a:extLst>
          </p:cNvPr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61AC2C-B894-4636-9E35-5B43A91D03D3}"/>
              </a:ext>
            </a:extLst>
          </p:cNvPr>
          <p:cNvSpPr/>
          <p:nvPr/>
        </p:nvSpPr>
        <p:spPr>
          <a:xfrm>
            <a:off x="1935480" y="185493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Market Leader DNA : Operational Profile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AE923E0-D366-B6D0-D607-F4F257E627E0}"/>
              </a:ext>
            </a:extLst>
          </p:cNvPr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/mnt/user-data/uploads/multivariate_5axis_radar.png">
            <a:extLst>
              <a:ext uri="{FF2B5EF4-FFF2-40B4-BE49-F238E27FC236}">
                <a16:creationId xmlns:a16="http://schemas.microsoft.com/office/drawing/2014/main" id="{778E1C68-7267-3B54-3EB7-0F235E421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062" y="1124152"/>
            <a:ext cx="6363362" cy="5397943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B7D0E39C-7673-60C3-8EA8-4E259BE5DF75}"/>
              </a:ext>
            </a:extLst>
          </p:cNvPr>
          <p:cNvSpPr/>
          <p:nvPr/>
        </p:nvSpPr>
        <p:spPr>
          <a:xfrm>
            <a:off x="8746236" y="2075687"/>
            <a:ext cx="3337560" cy="4106319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C2C547A9-CE99-8AE2-1BA0-AC21BAD2A7CC}"/>
              </a:ext>
            </a:extLst>
          </p:cNvPr>
          <p:cNvSpPr/>
          <p:nvPr/>
        </p:nvSpPr>
        <p:spPr>
          <a:xfrm>
            <a:off x="8732520" y="2127194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7D49EC4A-10F1-69D0-AE7F-B638B5D5F436}"/>
              </a:ext>
            </a:extLst>
          </p:cNvPr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0ACF6509-C4CE-2AE0-DDFD-CB7BE3380FF2}"/>
              </a:ext>
            </a:extLst>
          </p:cNvPr>
          <p:cNvSpPr/>
          <p:nvPr/>
        </p:nvSpPr>
        <p:spPr>
          <a:xfrm>
            <a:off x="8746236" y="3679900"/>
            <a:ext cx="3337560" cy="64008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D7474E6-90BC-B568-449E-AB523978D918}"/>
              </a:ext>
            </a:extLst>
          </p:cNvPr>
          <p:cNvSpPr/>
          <p:nvPr/>
        </p:nvSpPr>
        <p:spPr>
          <a:xfrm>
            <a:off x="8869680" y="234553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Leaders: efficiency first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7219441-D5EA-200B-0A0E-2E56B231893D}"/>
              </a:ext>
            </a:extLst>
          </p:cNvPr>
          <p:cNvSpPr/>
          <p:nvPr/>
        </p:nvSpPr>
        <p:spPr>
          <a:xfrm>
            <a:off x="8915400" y="25517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Radar shows Market Leaders (green) extend far on Financial Scale and Workforce Yield — NOT on headcount or customer volume.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A8C33248-59CD-54E1-7ED5-A5B1DD7E1FB5}"/>
              </a:ext>
            </a:extLst>
          </p:cNvPr>
          <p:cNvSpPr/>
          <p:nvPr/>
        </p:nvSpPr>
        <p:spPr>
          <a:xfrm>
            <a:off x="8869680" y="510459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Low performers: bloated</a:t>
            </a: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E2E1BB6-C909-AA13-7661-92B0872211C6}"/>
              </a:ext>
            </a:extLst>
          </p:cNvPr>
          <p:cNvSpPr/>
          <p:nvPr/>
        </p:nvSpPr>
        <p:spPr>
          <a:xfrm>
            <a:off x="8883396" y="524017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Low Performers (grey) spike on Operational Scale (Employees) — large workforce, low efficiency return on each team member.</a:t>
            </a:r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C6CBA9E1-6CD5-8363-AC41-3617F48A83E3}"/>
              </a:ext>
            </a:extLst>
          </p:cNvPr>
          <p:cNvSpPr/>
          <p:nvPr/>
        </p:nvSpPr>
        <p:spPr>
          <a:xfrm>
            <a:off x="8778240" y="4919903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186D6A41-EB41-083B-CD1C-F436A4BA1126}"/>
              </a:ext>
            </a:extLst>
          </p:cNvPr>
          <p:cNvSpPr/>
          <p:nvPr/>
        </p:nvSpPr>
        <p:spPr>
          <a:xfrm>
            <a:off x="8901684" y="3808147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Average Performers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52D02027-833F-3ACC-0324-971389036C96}"/>
              </a:ext>
            </a:extLst>
          </p:cNvPr>
          <p:cNvSpPr/>
          <p:nvPr/>
        </p:nvSpPr>
        <p:spPr>
          <a:xfrm>
            <a:off x="8915400" y="3989707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Average Performers: wide market reach — high customer volume, but modest revenue return per customer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9998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169164"/>
            <a:ext cx="11475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Multivariate Analysis : Cross-Sector Efficiency by Business Model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multivariate_grou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2907"/>
            <a:ext cx="8229600" cy="445965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Tech/Large Niche: $3.04M/emp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highest efficiency in the entire dataset. Technology's Large/Niche model generates $3.04M per employee — far above all others.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Healthcare Enterprise: $1.56M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Second highest. Enterprise/Standard in Healthcare reflects a high-value professional service model with disciplined cost control.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Mass-Scale always lowest</a:t>
            </a: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Across all 5 industries, Mass-Scale models cluster at ~$0.15–0.35M per employee. Large workforces consistently dilute efficiency.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Universal structural pattern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Niche/Standard efficiency advantage over Mass-Scale holds in every sector — confirming a structural market dynamic, not a Tech-only anomaly.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90302" y="128016"/>
            <a:ext cx="110782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Multivariate Analysis : Comprehensive Correlation Analysis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multivariate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8229600" cy="5596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Revenue vs size: ≈ 0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Revenue correlates with employee count at −0.002 and customer count at −0.003. Raw size is mathematically irrelevant to revenue.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Rev/Emp vs employees: −0.518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More employees = lower per-employee efficiency. Every hire dilutes the ratio — the scale penalty proven mathematically.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Rev/Emp &amp; Cust/Emp: +0.682</a:t>
            </a: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Efficient companies are efficient across all dimensions — the strongest positive relationship in the entire matrix.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 multicollinearity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 two variables are correlated enough to be redundant. All 10 columns contribute a unique analytical dimension.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927238" y="43294"/>
            <a:ext cx="87642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Multivariate Analysis : The Scale Paradox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975307" y="518782"/>
            <a:ext cx="4668105" cy="2377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Paradox: total revenue and profit margin move in opposite directions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multivariate_bar_line_com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70315"/>
            <a:ext cx="7997268" cy="5064841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Bigger ≠ more profitable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Large/Mass-Scale generates the highest total revenue but the lowest median profit margin at 24.6%.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Large/Niche margin: 37.0%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lowest total revenue business model achieves the highest profit margin — 12.4 percentage points above Mass-Scale.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Consistent inverse relationship</a:t>
            </a: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As scale increases from Niche → Standard → Mass-Scale, profit margins consistently compress across all revenue tiers.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Strategic implication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Growing by adding more customers and employees consistently trades profitability for volume. Scale and margin are in direct tension.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148840" y="16916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Outlier Detection : Base Metric Validation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outliers_boxplot_ba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2"/>
            <a:ext cx="8229600" cy="559612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851392" y="896112"/>
            <a:ext cx="3337560" cy="559612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8851392" y="896112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79408" y="9875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Zero outliers in base metrics</a:t>
            </a:r>
          </a:p>
        </p:txBody>
      </p:sp>
      <p:sp>
        <p:nvSpPr>
          <p:cNvPr id="12" name="Text 9"/>
          <p:cNvSpPr/>
          <p:nvPr/>
        </p:nvSpPr>
        <p:spPr>
          <a:xfrm>
            <a:off x="8979408" y="1261872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All 5 columns — Revenue, Employees, Profit Margin, Customers, Market Rating — show no points beyond IQR boundaries.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851392" y="2295144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979408" y="238658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Medians perfectly centred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979408" y="2660904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teal median line sits near the centre of each box — visually confirming near-zero skewness from univariate analysis.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8851392" y="3694176"/>
            <a:ext cx="33375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8979408" y="3785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No extreme tails visible</a:t>
            </a:r>
          </a:p>
        </p:txBody>
      </p:sp>
      <p:sp>
        <p:nvSpPr>
          <p:cNvPr id="18" name="Text 15"/>
          <p:cNvSpPr/>
          <p:nvPr/>
        </p:nvSpPr>
        <p:spPr>
          <a:xfrm>
            <a:off x="8979408" y="4059936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Whiskers extend cleanly to data boundaries. No scattered dots above or below — base data is genuinely clean.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851392" y="5093208"/>
            <a:ext cx="3337560" cy="6400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8979408" y="518464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Baseline validated</a:t>
            </a:r>
            <a:endParaRPr lang="en-US" sz="11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979408" y="5458968"/>
            <a:ext cx="309067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If outliers exist anywhere, they will only appear in the efficiency ratios — which is exactly what the next slide reveals.</a:t>
            </a:r>
            <a:endParaRPr lang="en-US" sz="10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59" y="128016"/>
            <a:ext cx="1150315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Outlier Detection : Efficiency Ratio Anomalies &amp; Retention Strategy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0" descr="/mnt/user-data/uploads/outliers_boxplot_engine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896111"/>
            <a:ext cx="7468483" cy="5349045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8260682" y="1373435"/>
            <a:ext cx="3909982" cy="4963883"/>
          </a:xfrm>
          <a:prstGeom prst="rect">
            <a:avLst/>
          </a:prstGeom>
          <a:solidFill>
            <a:srgbClr val="0D2137"/>
          </a:solidFill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4" name="Shape 31"/>
          <p:cNvSpPr/>
          <p:nvPr/>
        </p:nvSpPr>
        <p:spPr>
          <a:xfrm>
            <a:off x="8418636" y="1422155"/>
            <a:ext cx="3651442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7808976" y="1422155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⚖️  RETENTION DECISION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8464356" y="3417339"/>
            <a:ext cx="3560002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4"/>
          <p:cNvSpPr/>
          <p:nvPr/>
        </p:nvSpPr>
        <p:spPr>
          <a:xfrm>
            <a:off x="8464356" y="3438144"/>
            <a:ext cx="356000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✅  ALL OUTLIERS RETAINED</a:t>
            </a:r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8523922" y="422373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8523922" y="42445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8494403" y="4769471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39"/>
          <p:cNvSpPr/>
          <p:nvPr/>
        </p:nvSpPr>
        <p:spPr>
          <a:xfrm>
            <a:off x="8503547" y="477973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503547" y="5342470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2"/>
          <p:cNvSpPr/>
          <p:nvPr/>
        </p:nvSpPr>
        <p:spPr>
          <a:xfrm>
            <a:off x="8503547" y="53424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017489" y="4059936"/>
            <a:ext cx="308002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These are genuine high-efficiency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operators — not data entry errors</a:t>
            </a:r>
            <a:endParaRPr lang="en-US" sz="1000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7498080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017489" y="4626920"/>
            <a:ext cx="3006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Removing them erases the Market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Leader segment from the analysis</a:t>
            </a:r>
            <a:endParaRPr lang="en-US" sz="1000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498080" y="5029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9017489" y="5184648"/>
            <a:ext cx="3006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Future ML: apply scaling/capping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But EDA must retain them in full</a:t>
            </a:r>
            <a:endParaRPr lang="en-US" sz="1000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AE1683A-B031-4D8D-8DB7-CD677CF63B57}"/>
              </a:ext>
            </a:extLst>
          </p:cNvPr>
          <p:cNvGrpSpPr/>
          <p:nvPr/>
        </p:nvGrpSpPr>
        <p:grpSpPr>
          <a:xfrm>
            <a:off x="8408240" y="2427689"/>
            <a:ext cx="3614866" cy="666702"/>
            <a:chOff x="502920" y="4590288"/>
            <a:chExt cx="5760720" cy="1444752"/>
          </a:xfrm>
        </p:grpSpPr>
        <p:sp>
          <p:nvSpPr>
            <p:cNvPr id="57" name="Shape 6"/>
            <p:cNvSpPr/>
            <p:nvPr/>
          </p:nvSpPr>
          <p:spPr>
            <a:xfrm>
              <a:off x="502920" y="4590288"/>
              <a:ext cx="2834640" cy="347472"/>
            </a:xfrm>
            <a:prstGeom prst="rect">
              <a:avLst/>
            </a:prstGeom>
            <a:solidFill>
              <a:srgbClr val="0D2137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 7"/>
            <p:cNvSpPr/>
            <p:nvPr/>
          </p:nvSpPr>
          <p:spPr>
            <a:xfrm>
              <a:off x="539496" y="4590288"/>
              <a:ext cx="276148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Column</a:t>
              </a:r>
              <a:endParaRPr lang="en-US" sz="1000" dirty="0"/>
            </a:p>
          </p:txBody>
        </p:sp>
        <p:sp>
          <p:nvSpPr>
            <p:cNvPr id="59" name="Shape 8"/>
            <p:cNvSpPr/>
            <p:nvPr/>
          </p:nvSpPr>
          <p:spPr>
            <a:xfrm>
              <a:off x="3337560" y="4590288"/>
              <a:ext cx="1554480" cy="347472"/>
            </a:xfrm>
            <a:prstGeom prst="rect">
              <a:avLst/>
            </a:prstGeom>
            <a:solidFill>
              <a:srgbClr val="0D2137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Text 9"/>
            <p:cNvSpPr/>
            <p:nvPr/>
          </p:nvSpPr>
          <p:spPr>
            <a:xfrm>
              <a:off x="3374136" y="4590288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Outliers</a:t>
              </a:r>
              <a:endParaRPr lang="en-US" sz="1000" dirty="0"/>
            </a:p>
          </p:txBody>
        </p:sp>
        <p:sp>
          <p:nvSpPr>
            <p:cNvPr id="61" name="Shape 10"/>
            <p:cNvSpPr/>
            <p:nvPr/>
          </p:nvSpPr>
          <p:spPr>
            <a:xfrm>
              <a:off x="4892040" y="4590288"/>
              <a:ext cx="1371600" cy="347472"/>
            </a:xfrm>
            <a:prstGeom prst="rect">
              <a:avLst/>
            </a:prstGeom>
            <a:solidFill>
              <a:srgbClr val="0D2137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 11"/>
            <p:cNvSpPr/>
            <p:nvPr/>
          </p:nvSpPr>
          <p:spPr>
            <a:xfrm>
              <a:off x="4928616" y="4590288"/>
              <a:ext cx="129844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Rate</a:t>
              </a:r>
              <a:endParaRPr lang="en-US" sz="1000" dirty="0"/>
            </a:p>
          </p:txBody>
        </p:sp>
        <p:sp>
          <p:nvSpPr>
            <p:cNvPr id="63" name="Shape 12"/>
            <p:cNvSpPr/>
            <p:nvPr/>
          </p:nvSpPr>
          <p:spPr>
            <a:xfrm>
              <a:off x="502920" y="4956048"/>
              <a:ext cx="283464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 13"/>
            <p:cNvSpPr/>
            <p:nvPr/>
          </p:nvSpPr>
          <p:spPr>
            <a:xfrm>
              <a:off x="539496" y="4956048"/>
              <a:ext cx="276148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 / Employee</a:t>
              </a:r>
              <a:endParaRPr lang="en-US" sz="1000" dirty="0"/>
            </a:p>
          </p:txBody>
        </p:sp>
        <p:sp>
          <p:nvSpPr>
            <p:cNvPr id="65" name="Shape 14"/>
            <p:cNvSpPr/>
            <p:nvPr/>
          </p:nvSpPr>
          <p:spPr>
            <a:xfrm>
              <a:off x="3337560" y="4956048"/>
              <a:ext cx="155448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Text 15"/>
            <p:cNvSpPr/>
            <p:nvPr/>
          </p:nvSpPr>
          <p:spPr>
            <a:xfrm>
              <a:off x="3374136" y="4956048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1,646</a:t>
              </a:r>
              <a:endParaRPr lang="en-US" sz="1000" dirty="0"/>
            </a:p>
          </p:txBody>
        </p:sp>
        <p:sp>
          <p:nvSpPr>
            <p:cNvPr id="67" name="Shape 16"/>
            <p:cNvSpPr/>
            <p:nvPr/>
          </p:nvSpPr>
          <p:spPr>
            <a:xfrm>
              <a:off x="4892040" y="4956048"/>
              <a:ext cx="137160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Text 17"/>
            <p:cNvSpPr/>
            <p:nvPr/>
          </p:nvSpPr>
          <p:spPr>
            <a:xfrm>
              <a:off x="4928616" y="4956048"/>
              <a:ext cx="129844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11.0%</a:t>
              </a:r>
              <a:endParaRPr lang="en-US" sz="1000" dirty="0"/>
            </a:p>
          </p:txBody>
        </p:sp>
        <p:sp>
          <p:nvSpPr>
            <p:cNvPr id="69" name="Shape 18"/>
            <p:cNvSpPr/>
            <p:nvPr/>
          </p:nvSpPr>
          <p:spPr>
            <a:xfrm>
              <a:off x="502920" y="5321808"/>
              <a:ext cx="283464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Text 19"/>
            <p:cNvSpPr/>
            <p:nvPr/>
          </p:nvSpPr>
          <p:spPr>
            <a:xfrm>
              <a:off x="539496" y="5321808"/>
              <a:ext cx="276148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 / Customer</a:t>
              </a:r>
              <a:endParaRPr lang="en-US" sz="1000" dirty="0"/>
            </a:p>
          </p:txBody>
        </p:sp>
        <p:sp>
          <p:nvSpPr>
            <p:cNvPr id="71" name="Shape 20"/>
            <p:cNvSpPr/>
            <p:nvPr/>
          </p:nvSpPr>
          <p:spPr>
            <a:xfrm>
              <a:off x="3337560" y="5321808"/>
              <a:ext cx="155448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Text 21"/>
            <p:cNvSpPr/>
            <p:nvPr/>
          </p:nvSpPr>
          <p:spPr>
            <a:xfrm>
              <a:off x="3374136" y="5321808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1,638</a:t>
              </a:r>
              <a:endParaRPr lang="en-US" sz="1000" dirty="0"/>
            </a:p>
          </p:txBody>
        </p:sp>
        <p:sp>
          <p:nvSpPr>
            <p:cNvPr id="73" name="Shape 22"/>
            <p:cNvSpPr/>
            <p:nvPr/>
          </p:nvSpPr>
          <p:spPr>
            <a:xfrm>
              <a:off x="4892040" y="5321808"/>
              <a:ext cx="137160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Text 23"/>
            <p:cNvSpPr/>
            <p:nvPr/>
          </p:nvSpPr>
          <p:spPr>
            <a:xfrm>
              <a:off x="4928616" y="5321808"/>
              <a:ext cx="129844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10.9%</a:t>
              </a:r>
              <a:endParaRPr lang="en-US" sz="1000" dirty="0"/>
            </a:p>
          </p:txBody>
        </p:sp>
        <p:sp>
          <p:nvSpPr>
            <p:cNvPr id="75" name="Shape 24"/>
            <p:cNvSpPr/>
            <p:nvPr/>
          </p:nvSpPr>
          <p:spPr>
            <a:xfrm>
              <a:off x="502920" y="5687568"/>
              <a:ext cx="283464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Text 25"/>
            <p:cNvSpPr/>
            <p:nvPr/>
          </p:nvSpPr>
          <p:spPr>
            <a:xfrm>
              <a:off x="539496" y="5687568"/>
              <a:ext cx="276148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Cust / Employee</a:t>
              </a:r>
              <a:endParaRPr lang="en-US" sz="1000" dirty="0"/>
            </a:p>
          </p:txBody>
        </p:sp>
        <p:sp>
          <p:nvSpPr>
            <p:cNvPr id="77" name="Shape 26"/>
            <p:cNvSpPr/>
            <p:nvPr/>
          </p:nvSpPr>
          <p:spPr>
            <a:xfrm>
              <a:off x="3337560" y="5687568"/>
              <a:ext cx="155448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Text 27"/>
            <p:cNvSpPr/>
            <p:nvPr/>
          </p:nvSpPr>
          <p:spPr>
            <a:xfrm>
              <a:off x="3374136" y="5687568"/>
              <a:ext cx="148132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1,818</a:t>
              </a:r>
              <a:endParaRPr lang="en-US" sz="1000" dirty="0"/>
            </a:p>
          </p:txBody>
        </p:sp>
        <p:sp>
          <p:nvSpPr>
            <p:cNvPr id="79" name="Shape 28"/>
            <p:cNvSpPr/>
            <p:nvPr/>
          </p:nvSpPr>
          <p:spPr>
            <a:xfrm>
              <a:off x="4892040" y="5687568"/>
              <a:ext cx="1371600" cy="347472"/>
            </a:xfrm>
            <a:prstGeom prst="rect">
              <a:avLst/>
            </a:prstGeom>
            <a:solidFill>
              <a:srgbClr val="F8FAFC"/>
            </a:solidFill>
            <a:ln w="635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Text 29"/>
            <p:cNvSpPr/>
            <p:nvPr/>
          </p:nvSpPr>
          <p:spPr>
            <a:xfrm>
              <a:off x="4928616" y="5687568"/>
              <a:ext cx="1298448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92400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12.1%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94360" y="128016"/>
            <a:ext cx="1100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Executive KPI Dashboard : Decoding the Market Leaders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17517" y="600518"/>
            <a:ext cx="4956965" cy="212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findings from the full analytical pipeline — consolidated into one executive 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4D99B7-24D1-AAD4-E306-D9AEFE02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18" y="955627"/>
            <a:ext cx="11420741" cy="57743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011680" y="210313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latin typeface="Bahnschrift" panose="020B0502040204020203" pitchFamily="34" charset="0"/>
              </a:rPr>
              <a:t>Challenges &amp; Learnings</a:t>
            </a:r>
            <a:endParaRPr lang="en-US" sz="3000" b="1" dirty="0">
              <a:latin typeface="Bahnschrift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41248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11480" y="932688"/>
            <a:ext cx="53949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11480" y="932688"/>
            <a:ext cx="5394960" cy="64008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996696"/>
            <a:ext cx="457200" cy="2039112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996696"/>
            <a:ext cx="457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10424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📦 Library Scope Expanded Mid-Project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0120" y="137160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60120" y="1426464"/>
            <a:ext cx="4754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Brief required only NumPy, Pandas, Matplotlib, Seaborn.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scipy → skewness, kurtosis, Q-Q plots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squarify → treemap visualization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sklearn MinMaxScaler → radar chart normalization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Each addition solved a specific deliverable — not added by preference.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62472" y="932688"/>
            <a:ext cx="53949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6062472" y="932688"/>
            <a:ext cx="5394960" cy="64008"/>
          </a:xfrm>
          <a:prstGeom prst="rect">
            <a:avLst/>
          </a:prstGeom>
          <a:solidFill>
            <a:srgbClr val="008080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62472" y="996696"/>
            <a:ext cx="457200" cy="2039112"/>
          </a:xfrm>
          <a:prstGeom prst="rect">
            <a:avLst/>
          </a:prstGeom>
          <a:solidFill>
            <a:srgbClr val="008080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62472" y="996696"/>
            <a:ext cx="457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11112" y="104241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🔍 </a:t>
            </a:r>
            <a:r>
              <a:rPr lang="en-IN" sz="1200" b="1" dirty="0">
                <a:latin typeface="Segoe UI" panose="020B0502040204020203" pitchFamily="34" charset="0"/>
                <a:cs typeface="Segoe UI" panose="020B0502040204020203" pitchFamily="34" charset="0"/>
              </a:rPr>
              <a:t>Extracting Signal from Uniform Distributions</a:t>
            </a:r>
            <a:endParaRPr lang="en-US" sz="12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611112" y="1371600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611112" y="1426464"/>
            <a:ext cx="4754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200400"/>
            <a:ext cx="53949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11480" y="3200400"/>
            <a:ext cx="5394960" cy="64008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11480" y="3264408"/>
            <a:ext cx="457200" cy="2039112"/>
          </a:xfrm>
          <a:prstGeom prst="rect">
            <a:avLst/>
          </a:prstGeom>
          <a:solidFill>
            <a:schemeClr val="tx1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264408"/>
            <a:ext cx="457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3310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⚙️ Feature Engineering Beyond the Brief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60120" y="3639312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60120" y="3694176"/>
            <a:ext cx="4754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Original ask: analyse 12 base columns only.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Uniform distributions made meaningful comparison impossible without efficiency ratios and tier classifications.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Going beyond the brief was not optional — it was the only path to extractable insight.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062472" y="3200400"/>
            <a:ext cx="53949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6062472" y="3200400"/>
            <a:ext cx="5394960" cy="64008"/>
          </a:xfrm>
          <a:prstGeom prst="rect">
            <a:avLst/>
          </a:prstGeom>
          <a:solidFill>
            <a:srgbClr val="008080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062472" y="3264408"/>
            <a:ext cx="457200" cy="2039112"/>
          </a:xfrm>
          <a:prstGeom prst="rect">
            <a:avLst/>
          </a:prstGeom>
          <a:solidFill>
            <a:srgbClr val="008080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062472" y="3264408"/>
            <a:ext cx="4572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11112" y="33101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⚖️ The Outlier Retention Dilemma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611112" y="3639312"/>
            <a:ext cx="47548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6611112" y="3694176"/>
            <a:ext cx="475488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Standard ML practice: remove or cap outliers.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11% of data flagged consistently across 3 columns is not noise — it is a coherent identifiable group.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Overriding textbook convention with context-aware statistical reasoning was the most important judgment call.</a:t>
            </a:r>
            <a:endParaRPr lang="en-US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6" name="Shape 72">
            <a:extLst>
              <a:ext uri="{FF2B5EF4-FFF2-40B4-BE49-F238E27FC236}">
                <a16:creationId xmlns:a16="http://schemas.microsoft.com/office/drawing/2014/main" id="{8368E551-9AC2-303A-33A1-17A227A03AD0}"/>
              </a:ext>
            </a:extLst>
          </p:cNvPr>
          <p:cNvSpPr/>
          <p:nvPr/>
        </p:nvSpPr>
        <p:spPr>
          <a:xfrm>
            <a:off x="457200" y="5457008"/>
            <a:ext cx="11000231" cy="1312163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73">
            <a:extLst>
              <a:ext uri="{FF2B5EF4-FFF2-40B4-BE49-F238E27FC236}">
                <a16:creationId xmlns:a16="http://schemas.microsoft.com/office/drawing/2014/main" id="{F3C57FCD-821C-CAA5-0248-05FCFB2D1B9A}"/>
              </a:ext>
            </a:extLst>
          </p:cNvPr>
          <p:cNvSpPr/>
          <p:nvPr/>
        </p:nvSpPr>
        <p:spPr>
          <a:xfrm>
            <a:off x="594360" y="5529180"/>
            <a:ext cx="10667689" cy="1167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59E0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Key Learnings:  </a:t>
            </a:r>
          </a:p>
          <a:p>
            <a:pPr>
              <a:spcBef>
                <a:spcPts val="40"/>
              </a:spcBef>
            </a:pPr>
            <a:endParaRPr lang="en-US" sz="1200" b="1" dirty="0">
              <a:solidFill>
                <a:srgbClr val="F59E0B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>
              <a:spcBef>
                <a:spcPts val="40"/>
              </a:spcBef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📌 Raw data uniformity demands analytical creativity </a:t>
            </a:r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uniform distributions are not the end; they are the beginning.</a:t>
            </a:r>
          </a:p>
          <a:p>
            <a:pPr>
              <a:spcBef>
                <a:spcPts val="40"/>
              </a:spcBef>
            </a:pP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40"/>
              </a:spcBef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📌 Context-aware reasoning outperforms textbook convention </a:t>
            </a:r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retaining the 11% outlier group was the correct decision despite standard ML practice.</a:t>
            </a:r>
          </a:p>
          <a:p>
            <a:pPr>
              <a:spcBef>
                <a:spcPts val="40"/>
              </a:spcBef>
            </a:pP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ts val="40"/>
              </a:spcBef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📌 Feature engineering is the bridge between data and insight </a:t>
            </a:r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— </a:t>
            </a: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without it, 15,000 companies looked statistically identical.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44D3C81-F5FC-876B-5501-71F45F8D4398}"/>
              </a:ext>
            </a:extLst>
          </p:cNvPr>
          <p:cNvSpPr txBox="1"/>
          <p:nvPr/>
        </p:nvSpPr>
        <p:spPr>
          <a:xfrm>
            <a:off x="6611112" y="1508029"/>
            <a:ext cx="4754880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All 12 original metrics exhibited near-zero skewness and negative kurtosis — producing virtually no variance between companies on raw metrics alone. </a:t>
            </a:r>
          </a:p>
          <a:p>
            <a:pPr algn="just"/>
            <a:endParaRPr lang="en-IN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just"/>
            <a:r>
              <a:rPr lang="en-IN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Conventional EDA techniques applied to perfectly uniform data yield no actionable differentiation.</a:t>
            </a:r>
          </a:p>
          <a:p>
            <a:pPr algn="just"/>
            <a:endParaRPr lang="en-IN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  <a:p>
            <a:pPr algn="just"/>
            <a:r>
              <a:rPr lang="en-IN" sz="110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 The analytical pivot — engineering efficiency ratios — was driven entirely by this observation, not by the project brief</a:t>
            </a:r>
          </a:p>
          <a:p>
            <a:pPr algn="just"/>
            <a:endParaRPr lang="en-IN" sz="1100" dirty="0">
              <a:solidFill>
                <a:schemeClr val="bg2">
                  <a:lumMod val="1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48640" y="6309360"/>
            <a:ext cx="11640312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914400" y="18288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3000" b="1" dirty="0">
                <a:solidFill>
                  <a:srgbClr val="14B8A6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b="1" dirty="0">
              <a:solidFill>
                <a:srgbClr val="14B8A6"/>
              </a:solidFill>
              <a:latin typeface="Bahnschrift" panose="020B0502040204020203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749808"/>
            <a:ext cx="52120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914400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70432" y="859536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market baseline is structurally level — no industry, country, or geographic region holds an inherent revenue or performance advantage over another.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1883664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70432" y="1828800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Competitive advantage is embedded in operational efficiency, not organizational size. Revenue per Employee — not headcount or customer volume — is the defining separator between Market Leaders and the rest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914400" y="2852928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170432" y="2798064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 Scale Paradox is real and structural. Mass-Scale growth compresses profit margins to 24.6%, while focused Niche operators achieve 37.0% margins despite generating lower total revenue.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0432" y="3767328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Only 505 companies — 3.4% of 15,000 — simultaneously satisfy all five Market Leader conditions. This quantifies exactly how rare genuine elite performance is in this market.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70432" y="4736592"/>
            <a:ext cx="4919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There is no single blueprint for Market Leader status. Each sector reaches the top through a distinct operational archetype — but all paths converge on one principle: operational discipline over operational scale.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ea typeface="Calibri" pitchFamily="34" charset="-122"/>
              <a:cs typeface="Segoe UI" panose="020B0502040204020203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307494" y="261256"/>
            <a:ext cx="93306" cy="5956663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583680" y="18288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4B8A6"/>
                </a:solidFill>
                <a:latin typeface="Bahnschrift" panose="020B0502040204020203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>
              <a:latin typeface="Bahnschrift" panose="020B0502040204020203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0" y="749808"/>
            <a:ext cx="50292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83680" y="960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🔵 K-Means Clustering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583680" y="1261872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Formally partition 15,000 companies into efficiency archetypes — moving beyond the funnel to ML-defined segments.</a:t>
            </a:r>
            <a:endParaRPr lang="en-US" sz="11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83680" y="2221992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📊 Streamlit Dashboard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83680" y="2523744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Deploy insights into a real-time interactive executive dashboard with live filters by industry, region, and business model.</a:t>
            </a:r>
          </a:p>
        </p:txBody>
      </p:sp>
      <p:sp>
        <p:nvSpPr>
          <p:cNvPr id="23" name="Text 21"/>
          <p:cNvSpPr/>
          <p:nvPr/>
        </p:nvSpPr>
        <p:spPr>
          <a:xfrm>
            <a:off x="6583680" y="3483864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🤖 Predictive Modelling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583680" y="3785616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>
              <a:buNone/>
            </a:pPr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Train a classification model (Random Forest) to predict Market Leader probability for new company entries.</a:t>
            </a:r>
          </a:p>
        </p:txBody>
      </p:sp>
      <p:sp>
        <p:nvSpPr>
          <p:cNvPr id="25" name="Text 23"/>
          <p:cNvSpPr/>
          <p:nvPr/>
        </p:nvSpPr>
        <p:spPr>
          <a:xfrm>
            <a:off x="6583680" y="474573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📈 Longitudinal Analysis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5047488"/>
            <a:ext cx="5303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Track companies across multiple years — is Market Leader status stable over time or not? In another words  —  Forecasting.</a:t>
            </a:r>
          </a:p>
        </p:txBody>
      </p:sp>
      <p:sp>
        <p:nvSpPr>
          <p:cNvPr id="27" name="Shape 25"/>
          <p:cNvSpPr/>
          <p:nvPr/>
        </p:nvSpPr>
        <p:spPr>
          <a:xfrm>
            <a:off x="594360" y="5916168"/>
            <a:ext cx="10972800" cy="0"/>
          </a:xfrm>
          <a:prstGeom prst="line">
            <a:avLst/>
          </a:prstGeom>
          <a:noFill/>
          <a:ln w="12700">
            <a:solidFill>
              <a:srgbClr val="253D5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94360" y="647395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bg1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Thank You  |  Yousuf S. R. Sakkaf  |  github.com/S-Yousuf-S/NHIS_Project3  |  Industry Performance EDA v2.0</a:t>
            </a:r>
            <a:endParaRPr lang="en-US" sz="1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0DFB2E05-C754-E560-3E9F-6E09050FDD1C}"/>
              </a:ext>
            </a:extLst>
          </p:cNvPr>
          <p:cNvSpPr/>
          <p:nvPr/>
        </p:nvSpPr>
        <p:spPr>
          <a:xfrm>
            <a:off x="870546" y="491947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34D3F03D-A3D6-4109-2DCD-BCC987B72C1C}"/>
              </a:ext>
            </a:extLst>
          </p:cNvPr>
          <p:cNvSpPr/>
          <p:nvPr/>
        </p:nvSpPr>
        <p:spPr>
          <a:xfrm>
            <a:off x="873594" y="3913632"/>
            <a:ext cx="164592" cy="16459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716</TotalTime>
  <Words>6078</Words>
  <Application>Microsoft Office PowerPoint</Application>
  <PresentationFormat>Widescreen</PresentationFormat>
  <Paragraphs>405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Bahnschrift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Industry Performance EDA: Decoding the Market Leaders</dc:title>
  <dc:subject>PptxGenJS Presentation</dc:subject>
  <dc:creator>Yousuf S. R. Sakkaf</dc:creator>
  <cp:lastModifiedBy>Yousuf Sakkaf</cp:lastModifiedBy>
  <cp:revision>22</cp:revision>
  <dcterms:created xsi:type="dcterms:W3CDTF">2026-06-07T14:29:02Z</dcterms:created>
  <dcterms:modified xsi:type="dcterms:W3CDTF">2026-06-08T02:30:42Z</dcterms:modified>
</cp:coreProperties>
</file>